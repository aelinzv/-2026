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301" r:id="rId2"/>
    <p:sldId id="302" r:id="rId3"/>
    <p:sldId id="309" r:id="rId4"/>
    <p:sldId id="305" r:id="rId5"/>
    <p:sldId id="306" r:id="rId6"/>
    <p:sldId id="308" r:id="rId7"/>
    <p:sldId id="307" r:id="rId8"/>
  </p:sldIdLst>
  <p:sldSz cx="12192000" cy="6858000"/>
  <p:notesSz cx="6858000" cy="9144000"/>
  <p:embeddedFontLst>
    <p:embeddedFont>
      <p:font typeface="Samsung SS Head Bold" charset="0"/>
      <p:bold r:id="rId11"/>
    </p:embeddedFont>
    <p:embeddedFont>
      <p:font typeface="Samsung SS Body Light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5994EE"/>
    <a:srgbClr val="2C3694"/>
    <a:srgbClr val="939598"/>
    <a:srgbClr val="F2AB0E"/>
    <a:srgbClr val="F8F8F8"/>
    <a:srgbClr val="1428A0"/>
    <a:srgbClr val="F4F4F4"/>
    <a:srgbClr val="A366D0"/>
    <a:srgbClr val="662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46" autoAdjust="0"/>
    <p:restoredTop sz="94430" autoAdjust="0"/>
  </p:normalViewPr>
  <p:slideViewPr>
    <p:cSldViewPr snapToGrid="0">
      <p:cViewPr varScale="1">
        <p:scale>
          <a:sx n="83" d="100"/>
          <a:sy n="83" d="100"/>
        </p:scale>
        <p:origin x="384" y="6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06DB2-4954-43E5-B66E-7D2A86D72355}" type="datetimeFigureOut">
              <a:rPr lang="ru-RU" smtClean="0"/>
              <a:t>19.04.2026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7FB8C-22BF-4227-90C9-7C1335D9A8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4202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54CC1-97CB-44AD-8DAB-B216F30CF3E3}" type="datetimeFigureOut">
              <a:rPr lang="ru-RU" smtClean="0"/>
              <a:t>19.04.2026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BEDC-14E0-454C-9320-42DD4A99B1B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2682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B654-93F3-4721-A290-17E9A518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0B30C-7A61-451E-B6EB-667FC2B0D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1" name="Нижний колонтитул 3">
            <a:extLst>
              <a:ext uri="{FF2B5EF4-FFF2-40B4-BE49-F238E27FC236}">
                <a16:creationId xmlns:a16="http://schemas.microsoft.com/office/drawing/2014/main" id="{DBC79993-7E0C-BF08-BD63-101AD1D3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15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1FE16B5E-670B-B0D9-3465-2F8EB26C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91550"/>
            <a:ext cx="2743200" cy="365125"/>
          </a:xfrm>
          <a:prstGeom prst="rect">
            <a:avLst/>
          </a:prstGeom>
        </p:spPr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7E6545-BB43-08F4-DA83-69D9E36CD7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80440" y="577103"/>
            <a:ext cx="4837425" cy="240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28948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ижний колонтитул 3">
            <a:extLst>
              <a:ext uri="{FF2B5EF4-FFF2-40B4-BE49-F238E27FC236}">
                <a16:creationId xmlns:a16="http://schemas.microsoft.com/office/drawing/2014/main" id="{548A2B70-448C-B179-6FDB-33043475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15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endParaRPr lang="ru-RU" dirty="0">
              <a:latin typeface="Samsung SS Body Light" pitchFamily="2" charset="0"/>
              <a:cs typeface="Samsung SS Body Light" pitchFamily="2" charset="0"/>
            </a:endParaRPr>
          </a:p>
        </p:txBody>
      </p:sp>
      <p:sp>
        <p:nvSpPr>
          <p:cNvPr id="10" name="Номер слайда 4">
            <a:extLst>
              <a:ext uri="{FF2B5EF4-FFF2-40B4-BE49-F238E27FC236}">
                <a16:creationId xmlns:a16="http://schemas.microsoft.com/office/drawing/2014/main" id="{D2506823-5C83-76DA-E7BD-52E539C6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915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fld id="{2D0A6DE4-523C-4F70-BC59-CD9CEAB9BA4C}" type="slidenum">
              <a:rPr lang="ru-RU" smtClean="0"/>
              <a:pPr/>
              <a:t>‹#›</a:t>
            </a:fld>
            <a:endParaRPr lang="ru-RU" dirty="0">
              <a:latin typeface="Samsung SS Body Light" pitchFamily="2" charset="0"/>
              <a:cs typeface="Samsung SS Body Light" pitchFamily="2" charset="0"/>
            </a:endParaRPr>
          </a:p>
        </p:txBody>
      </p:sp>
      <p:pic>
        <p:nvPicPr>
          <p:cNvPr id="4" name="Рисунок 3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D6003F-A625-0F8E-0458-9324A7CB3B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9666"/>
          <a:stretch>
            <a:fillRect/>
          </a:stretch>
        </p:blipFill>
        <p:spPr>
          <a:xfrm>
            <a:off x="369476" y="6161241"/>
            <a:ext cx="1589217" cy="477510"/>
          </a:xfrm>
          <a:prstGeom prst="rect">
            <a:avLst/>
          </a:prstGeom>
        </p:spPr>
      </p:pic>
      <p:pic>
        <p:nvPicPr>
          <p:cNvPr id="8" name="Рисунок 7" descr="Изображение выглядит как Шрифт, текст, Графика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9BF848-4D64-D5BD-D1DE-3F455E982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7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899" y="374956"/>
            <a:ext cx="2328172" cy="49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11510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231440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58765E-1D59-4EBD-8B0C-D90EDEB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15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BC9D76-2C00-47FC-B1BC-53DDDD5D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91550"/>
            <a:ext cx="2743200" cy="365125"/>
          </a:xfrm>
          <a:prstGeom prst="rect">
            <a:avLst/>
          </a:prstGeom>
        </p:spPr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19D724-5309-42B0-9DD6-2097051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477" y="219249"/>
            <a:ext cx="6750231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" name="Рисунок 2" descr="Изображение выглядит как Графика, Шрифт, графический дизайн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6CB42BA-F6F0-6BDA-3AC1-49705DD071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16432" y="429020"/>
            <a:ext cx="1453786" cy="2449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D2D6FE-C4CC-DFA3-685D-AFCFB84126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371955" y="397490"/>
            <a:ext cx="1053177" cy="325054"/>
          </a:xfrm>
          <a:prstGeom prst="rect">
            <a:avLst/>
          </a:prstGeom>
        </p:spPr>
      </p:pic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61426F-905A-9BBC-3DF1-62D406CC02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39666"/>
          <a:stretch>
            <a:fillRect/>
          </a:stretch>
        </p:blipFill>
        <p:spPr>
          <a:xfrm>
            <a:off x="369476" y="6161241"/>
            <a:ext cx="1589217" cy="477510"/>
          </a:xfrm>
          <a:prstGeom prst="rect">
            <a:avLst/>
          </a:prstGeom>
        </p:spPr>
      </p:pic>
      <p:pic>
        <p:nvPicPr>
          <p:cNvPr id="9" name="Рисунок 8" descr="Изображение выглядит как Шрифт, текст, Графика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875946-4B33-5B17-F00F-19B317FAC8A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67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82783" y="410480"/>
            <a:ext cx="1533914" cy="32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92465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3">
            <a:extLst>
              <a:ext uri="{FF2B5EF4-FFF2-40B4-BE49-F238E27FC236}">
                <a16:creationId xmlns:a16="http://schemas.microsoft.com/office/drawing/2014/main" id="{4EF423DD-35E4-EB99-A2AB-879CFF39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15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91A1E86D-4784-989C-7B13-ECACAE01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91550"/>
            <a:ext cx="2743200" cy="365125"/>
          </a:xfrm>
          <a:prstGeom prst="rect">
            <a:avLst/>
          </a:prstGeom>
        </p:spPr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873549F9-558A-8608-27AE-60F5F087A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477" y="219249"/>
            <a:ext cx="8908926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Samsung SS Head Bold" pitchFamily="2" charset="0"/>
                <a:ea typeface="Samsung Sharp Sans" pitchFamily="2" charset="-52"/>
                <a:cs typeface="Samsung SS Head Bold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5F32BD-39A4-CA77-8D62-9468328F35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9666"/>
          <a:stretch>
            <a:fillRect/>
          </a:stretch>
        </p:blipFill>
        <p:spPr>
          <a:xfrm>
            <a:off x="369476" y="6161241"/>
            <a:ext cx="1589217" cy="47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11787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408B19C-A56B-04A1-5E94-67650A44673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8D2-75F5-4968-BF4A-E2A6812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7E328-62D0-4942-BE8A-B7D45C276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CE8DE-F8D7-4826-B98F-926078B07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915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3D883-9999-4B3C-991A-C0644E17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915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Samsung SS Body Light" pitchFamily="2" charset="0"/>
                <a:cs typeface="Samsung SS Body Light" pitchFamily="2" charset="0"/>
              </a:defRPr>
            </a:lvl1pPr>
          </a:lstStyle>
          <a:p>
            <a:fld id="{2D0A6DE4-523C-4F70-BC59-CD9CEAB9BA4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334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73" r:id="rId3"/>
    <p:sldLayoutId id="2147483664" r:id="rId4"/>
    <p:sldLayoutId id="2147483672" r:id="rId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2"/>
          </a:solidFill>
          <a:latin typeface="Samsung SS Head Bold" pitchFamily="2" charset="0"/>
          <a:ea typeface="+mj-ea"/>
          <a:cs typeface="Samsung SS Head 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Samsung SS Body Light" pitchFamily="2" charset="0"/>
          <a:ea typeface="+mn-ea"/>
          <a:cs typeface="Samsung SS Body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063606"/>
          </a:xfrm>
        </p:spPr>
        <p:txBody>
          <a:bodyPr>
            <a:normAutofit/>
          </a:bodyPr>
          <a:lstStyle/>
          <a:p>
            <a:r>
              <a:rPr lang="ru-RU" sz="5400" dirty="0" smtClean="0">
                <a:solidFill>
                  <a:schemeClr val="accent1"/>
                </a:solidFill>
              </a:rPr>
              <a:t>Решение </a:t>
            </a:r>
            <a:r>
              <a:rPr lang="en-US" sz="5400" dirty="0" smtClean="0">
                <a:solidFill>
                  <a:schemeClr val="accent1"/>
                </a:solidFill>
              </a:rPr>
              <a:t>Arenadata</a:t>
            </a:r>
            <a:endParaRPr lang="ru-RU" sz="5400" dirty="0">
              <a:solidFill>
                <a:schemeClr val="accent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1605934"/>
          </a:xfrm>
        </p:spPr>
        <p:txBody>
          <a:bodyPr>
            <a:noAutofit/>
          </a:bodyPr>
          <a:lstStyle/>
          <a:p>
            <a:pPr algn="r"/>
            <a:r>
              <a:rPr lang="ru-RU" sz="2800" smtClean="0">
                <a:solidFill>
                  <a:srgbClr val="5994EE"/>
                </a:solidFill>
              </a:rPr>
              <a:t>Команда Мужчины:</a:t>
            </a:r>
            <a:endParaRPr lang="ru-RU" sz="2800" dirty="0" smtClean="0">
              <a:solidFill>
                <a:srgbClr val="5994EE"/>
              </a:solidFill>
            </a:endParaRPr>
          </a:p>
          <a:p>
            <a:pPr algn="r"/>
            <a:r>
              <a:rPr lang="ru-RU" dirty="0" smtClean="0"/>
              <a:t>Горбачев Кирилл </a:t>
            </a:r>
          </a:p>
          <a:p>
            <a:pPr algn="r"/>
            <a:r>
              <a:rPr lang="ru-RU" dirty="0" smtClean="0"/>
              <a:t>Коротков Кирилл </a:t>
            </a:r>
          </a:p>
          <a:p>
            <a:pPr algn="r"/>
            <a:r>
              <a:rPr lang="ru-RU" dirty="0" smtClean="0"/>
              <a:t>Михайлов Руслан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698559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2</a:t>
            </a:fld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69477" y="354764"/>
            <a:ext cx="6750231" cy="690677"/>
          </a:xfrm>
        </p:spPr>
        <p:txBody>
          <a:bodyPr/>
          <a:lstStyle/>
          <a:p>
            <a:r>
              <a:rPr lang="ru-RU" sz="4000" dirty="0" smtClean="0"/>
              <a:t>Цель проекта</a:t>
            </a:r>
            <a:endParaRPr lang="ru-RU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369477" y="1188061"/>
            <a:ext cx="91809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1428A0"/>
                </a:solidFill>
              </a:rPr>
              <a:t>Разработать программный инструмент для автоматического аудита неструктурированного корпоративного файлового хранилища на предмет наличия персональных </a:t>
            </a:r>
            <a:r>
              <a:rPr lang="ru-RU" sz="2400" dirty="0" smtClean="0">
                <a:solidFill>
                  <a:srgbClr val="1428A0"/>
                </a:solidFill>
              </a:rPr>
              <a:t>данных </a:t>
            </a:r>
            <a:r>
              <a:rPr lang="ru-RU" sz="2400" dirty="0">
                <a:solidFill>
                  <a:srgbClr val="1428A0"/>
                </a:solidFill>
              </a:rPr>
              <a:t>и классификации уровня угроз согласно Федеральному закону № 152-ФЗ.</a:t>
            </a:r>
            <a:endParaRPr lang="ru-RU" sz="2400" dirty="0">
              <a:solidFill>
                <a:srgbClr val="1428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9477" y="3873958"/>
            <a:ext cx="80910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2C3694"/>
                </a:solidFill>
              </a:rPr>
              <a:t>Смешанная свалка файлов без четкой иерархии и системы хранения</a:t>
            </a:r>
            <a:r>
              <a:rPr lang="ru-RU" dirty="0" smtClean="0">
                <a:solidFill>
                  <a:srgbClr val="2C36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2C36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2C3694"/>
                </a:solidFill>
              </a:rPr>
              <a:t>Более </a:t>
            </a:r>
            <a:r>
              <a:rPr lang="ru-RU" b="1" dirty="0">
                <a:solidFill>
                  <a:srgbClr val="2C3694"/>
                </a:solidFill>
              </a:rPr>
              <a:t>3000 файлов</a:t>
            </a:r>
            <a:r>
              <a:rPr lang="ru-RU" dirty="0">
                <a:solidFill>
                  <a:srgbClr val="2C3694"/>
                </a:solidFill>
              </a:rPr>
              <a:t> общим объемом около </a:t>
            </a:r>
            <a:r>
              <a:rPr lang="ru-RU" b="1" dirty="0">
                <a:solidFill>
                  <a:srgbClr val="2C3694"/>
                </a:solidFill>
              </a:rPr>
              <a:t>3 ГБ</a:t>
            </a:r>
            <a:r>
              <a:rPr lang="ru-RU" dirty="0" smtClean="0">
                <a:solidFill>
                  <a:srgbClr val="2C369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2C36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2C3694"/>
                </a:solidFill>
              </a:rPr>
              <a:t>Широкий спектр форматов: </a:t>
            </a:r>
            <a:r>
              <a:rPr lang="ru-RU" dirty="0" smtClean="0">
                <a:solidFill>
                  <a:srgbClr val="2C3694"/>
                </a:solidFill>
              </a:rPr>
              <a:t>(</a:t>
            </a:r>
            <a:r>
              <a:rPr lang="en-US" dirty="0">
                <a:solidFill>
                  <a:srgbClr val="2C3694"/>
                </a:solidFill>
              </a:rPr>
              <a:t>CSV, </a:t>
            </a:r>
            <a:r>
              <a:rPr lang="en-US" dirty="0" smtClean="0">
                <a:solidFill>
                  <a:srgbClr val="2C3694"/>
                </a:solidFill>
              </a:rPr>
              <a:t>Parquet</a:t>
            </a:r>
            <a:r>
              <a:rPr lang="ru-RU" dirty="0" smtClean="0">
                <a:solidFill>
                  <a:srgbClr val="2C3694"/>
                </a:solidFill>
              </a:rPr>
              <a:t>, </a:t>
            </a:r>
            <a:r>
              <a:rPr lang="en-US" dirty="0" smtClean="0">
                <a:solidFill>
                  <a:srgbClr val="2C3694"/>
                </a:solidFill>
              </a:rPr>
              <a:t>JPEG</a:t>
            </a:r>
            <a:r>
              <a:rPr lang="en-US" dirty="0">
                <a:solidFill>
                  <a:srgbClr val="2C3694"/>
                </a:solidFill>
              </a:rPr>
              <a:t>, </a:t>
            </a:r>
            <a:r>
              <a:rPr lang="en-US" dirty="0" smtClean="0">
                <a:solidFill>
                  <a:srgbClr val="2C3694"/>
                </a:solidFill>
              </a:rPr>
              <a:t>PDF, HTML</a:t>
            </a:r>
            <a:r>
              <a:rPr lang="ru-RU" dirty="0" smtClean="0">
                <a:solidFill>
                  <a:srgbClr val="2C3694"/>
                </a:solidFill>
              </a:rPr>
              <a:t>, </a:t>
            </a:r>
            <a:r>
              <a:rPr lang="en-US" dirty="0" smtClean="0">
                <a:solidFill>
                  <a:srgbClr val="2C3694"/>
                </a:solidFill>
              </a:rPr>
              <a:t>MP4</a:t>
            </a:r>
            <a:r>
              <a:rPr lang="ru-RU" dirty="0" smtClean="0">
                <a:solidFill>
                  <a:srgbClr val="2C3694"/>
                </a:solidFill>
              </a:rPr>
              <a:t>)</a:t>
            </a:r>
            <a:endParaRPr lang="ru-RU" dirty="0">
              <a:solidFill>
                <a:srgbClr val="2C36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>
              <a:solidFill>
                <a:srgbClr val="2C36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2C3694"/>
                </a:solidFill>
              </a:rPr>
              <a:t>Наличие мотивации и знаний</a:t>
            </a:r>
            <a:endParaRPr lang="en-US" dirty="0">
              <a:solidFill>
                <a:srgbClr val="2C369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9477" y="3269673"/>
            <a:ext cx="2017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solidFill>
                  <a:srgbClr val="44546A"/>
                </a:solidFill>
                <a:latin typeface="+mj-lt"/>
              </a:rPr>
              <a:t>Что имеем?</a:t>
            </a:r>
            <a:endParaRPr lang="ru-RU" sz="2400" dirty="0">
              <a:solidFill>
                <a:srgbClr val="44546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304025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3</a:t>
            </a:fld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решения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744592" y="725260"/>
            <a:ext cx="242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44546A"/>
                </a:solidFill>
                <a:latin typeface="+mj-lt"/>
              </a:rPr>
              <a:t>Как это работает?</a:t>
            </a:r>
            <a:endParaRPr lang="ru-RU" dirty="0">
              <a:solidFill>
                <a:srgbClr val="44546A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827" y="1690862"/>
            <a:ext cx="309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44546A"/>
                </a:solidFill>
                <a:latin typeface="+mj-lt"/>
              </a:rPr>
              <a:t>Обход и приоритизация</a:t>
            </a:r>
            <a:endParaRPr lang="ru-RU" dirty="0">
              <a:solidFill>
                <a:srgbClr val="44546A"/>
              </a:solidFill>
              <a:latin typeface="+mj-lt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6866" y="2065956"/>
            <a:ext cx="3315854" cy="1403927"/>
          </a:xfrm>
          <a:prstGeom prst="roundRect">
            <a:avLst/>
          </a:prstGeom>
          <a:solidFill>
            <a:srgbClr val="5994EE"/>
          </a:solidFill>
          <a:ln w="38100">
            <a:solidFill>
              <a:srgbClr val="2C3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Os.walk -&gt; </a:t>
            </a:r>
            <a:r>
              <a:rPr lang="ru-RU" dirty="0" smtClean="0"/>
              <a:t>Разделение на «Легкие» и «Тяжелые»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050079" y="1686143"/>
            <a:ext cx="250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44546A"/>
                </a:solidFill>
                <a:latin typeface="+mj-lt"/>
              </a:rPr>
              <a:t>Извлечение текста</a:t>
            </a:r>
            <a:endParaRPr lang="ru-RU" dirty="0">
              <a:solidFill>
                <a:srgbClr val="44546A"/>
              </a:solidFill>
              <a:latin typeface="+mj-lt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050079" y="2037768"/>
            <a:ext cx="3315854" cy="1403927"/>
          </a:xfrm>
          <a:prstGeom prst="roundRect">
            <a:avLst/>
          </a:prstGeom>
          <a:solidFill>
            <a:srgbClr val="5994EE"/>
          </a:solidFill>
          <a:ln w="38100">
            <a:solidFill>
              <a:srgbClr val="2C3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Структуры: </a:t>
            </a:r>
            <a:r>
              <a:rPr lang="en-US" dirty="0" smtClean="0"/>
              <a:t>Pandas</a:t>
            </a:r>
          </a:p>
          <a:p>
            <a:pPr algn="ctr"/>
            <a:r>
              <a:rPr lang="ru-RU" dirty="0" smtClean="0"/>
              <a:t>Документы: </a:t>
            </a:r>
            <a:r>
              <a:rPr lang="en-US" dirty="0" smtClean="0"/>
              <a:t>pdfplumber</a:t>
            </a:r>
          </a:p>
          <a:p>
            <a:pPr algn="ctr"/>
            <a:r>
              <a:rPr lang="en-US" dirty="0" smtClean="0"/>
              <a:t>OCR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841318" y="1686143"/>
            <a:ext cx="2225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44546A"/>
                </a:solidFill>
                <a:latin typeface="+mj-lt"/>
              </a:rPr>
              <a:t>Детектирование</a:t>
            </a:r>
            <a:endParaRPr lang="ru-RU" dirty="0">
              <a:solidFill>
                <a:srgbClr val="44546A"/>
              </a:solidFill>
              <a:latin typeface="+mj-lt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7743292" y="2065955"/>
            <a:ext cx="3315854" cy="1403927"/>
          </a:xfrm>
          <a:prstGeom prst="roundRect">
            <a:avLst/>
          </a:prstGeom>
          <a:solidFill>
            <a:srgbClr val="5994EE"/>
          </a:solidFill>
          <a:ln w="38100">
            <a:solidFill>
              <a:srgbClr val="2C3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Regex + </a:t>
            </a:r>
            <a:r>
              <a:rPr lang="ru-RU" dirty="0" smtClean="0"/>
              <a:t>Валидаторы</a:t>
            </a:r>
          </a:p>
          <a:p>
            <a:pPr algn="ctr"/>
            <a:r>
              <a:rPr lang="ru-RU" dirty="0" smtClean="0"/>
              <a:t>Алгоритм Луна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79" y="3739970"/>
            <a:ext cx="306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44546A"/>
                </a:solidFill>
                <a:latin typeface="+mj-lt"/>
              </a:rPr>
              <a:t>Классификация и отчет</a:t>
            </a:r>
            <a:endParaRPr lang="ru-RU" dirty="0">
              <a:solidFill>
                <a:srgbClr val="44546A"/>
              </a:solidFill>
              <a:latin typeface="+mj-lt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050079" y="4109302"/>
            <a:ext cx="3315854" cy="1403927"/>
          </a:xfrm>
          <a:prstGeom prst="roundRect">
            <a:avLst/>
          </a:prstGeom>
          <a:solidFill>
            <a:srgbClr val="5994EE"/>
          </a:solidFill>
          <a:ln w="38100">
            <a:solidFill>
              <a:srgbClr val="2C3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Логика определения УЗ</a:t>
            </a:r>
          </a:p>
          <a:p>
            <a:pPr algn="ctr"/>
            <a:r>
              <a:rPr lang="ru-RU" dirty="0" smtClean="0"/>
              <a:t>Генерация логов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73900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4</a:t>
            </a:fld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84040" y="459395"/>
            <a:ext cx="9698160" cy="690677"/>
          </a:xfrm>
        </p:spPr>
        <p:txBody>
          <a:bodyPr/>
          <a:lstStyle/>
          <a:p>
            <a:r>
              <a:rPr lang="ru-RU" dirty="0" smtClean="0"/>
              <a:t>Обработка сложных кейсов : устойчивость к реальному хаосу</a:t>
            </a: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49795"/>
              </p:ext>
            </p:extLst>
          </p:nvPr>
        </p:nvGraphicFramePr>
        <p:xfrm>
          <a:off x="741214" y="1540945"/>
          <a:ext cx="1061258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6293">
                  <a:extLst>
                    <a:ext uri="{9D8B030D-6E8A-4147-A177-3AD203B41FA5}">
                      <a16:colId xmlns:a16="http://schemas.microsoft.com/office/drawing/2014/main" val="4045779217"/>
                    </a:ext>
                  </a:extLst>
                </a:gridCol>
                <a:gridCol w="5306293">
                  <a:extLst>
                    <a:ext uri="{9D8B030D-6E8A-4147-A177-3AD203B41FA5}">
                      <a16:colId xmlns:a16="http://schemas.microsoft.com/office/drawing/2014/main" val="2362468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🚨</a:t>
                      </a:r>
                      <a:r>
                        <a:rPr lang="ru-RU" sz="2400" dirty="0" smtClean="0">
                          <a:solidFill>
                            <a:schemeClr val="bg1"/>
                          </a:solidFill>
                        </a:rPr>
                        <a:t>Проблема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solidFill>
                            <a:schemeClr val="bg1"/>
                          </a:solidFill>
                        </a:rPr>
                        <a:t>💡Наше решение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46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44546A"/>
                          </a:solidFill>
                        </a:rPr>
                        <a:t>Pdf</a:t>
                      </a:r>
                      <a:r>
                        <a:rPr lang="en-US" sz="2400" baseline="0" dirty="0" smtClean="0">
                          <a:solidFill>
                            <a:srgbClr val="44546A"/>
                          </a:solidFill>
                        </a:rPr>
                        <a:t> </a:t>
                      </a:r>
                      <a:r>
                        <a:rPr lang="ru-RU" sz="2400" baseline="0" dirty="0" smtClean="0">
                          <a:solidFill>
                            <a:srgbClr val="44546A"/>
                          </a:solidFill>
                        </a:rPr>
                        <a:t>на 500 страниц</a:t>
                      </a:r>
                      <a:endParaRPr lang="ru-RU" sz="2400" dirty="0">
                        <a:solidFill>
                          <a:srgbClr val="44546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rgbClr val="44546A"/>
                          </a:solidFill>
                        </a:rPr>
                        <a:t>Ограничение</a:t>
                      </a:r>
                      <a:r>
                        <a:rPr lang="ru-RU" sz="2400" baseline="0" dirty="0" smtClean="0">
                          <a:solidFill>
                            <a:srgbClr val="44546A"/>
                          </a:solidFill>
                        </a:rPr>
                        <a:t> страниц</a:t>
                      </a:r>
                      <a:endParaRPr lang="ru-RU" sz="2400" dirty="0">
                        <a:solidFill>
                          <a:srgbClr val="44546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4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rgbClr val="44546A"/>
                          </a:solidFill>
                        </a:rPr>
                        <a:t>Поврежденный</a:t>
                      </a:r>
                      <a:r>
                        <a:rPr lang="ru-RU" sz="2400" baseline="0" dirty="0" smtClean="0">
                          <a:solidFill>
                            <a:srgbClr val="44546A"/>
                          </a:solidFill>
                        </a:rPr>
                        <a:t> </a:t>
                      </a:r>
                      <a:r>
                        <a:rPr lang="en-US" sz="2400" baseline="0" dirty="0" smtClean="0">
                          <a:solidFill>
                            <a:srgbClr val="44546A"/>
                          </a:solidFill>
                        </a:rPr>
                        <a:t>zip/pdf</a:t>
                      </a:r>
                      <a:endParaRPr lang="ru-RU" sz="2400" dirty="0">
                        <a:solidFill>
                          <a:srgbClr val="44546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rgbClr val="44546A"/>
                          </a:solidFill>
                        </a:rPr>
                        <a:t>Множественный фолбэк</a:t>
                      </a:r>
                    </a:p>
                    <a:p>
                      <a:endParaRPr lang="ru-RU" dirty="0">
                        <a:solidFill>
                          <a:srgbClr val="44546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1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rgbClr val="44546A"/>
                          </a:solidFill>
                        </a:rPr>
                        <a:t>Плохое</a:t>
                      </a:r>
                      <a:r>
                        <a:rPr lang="ru-RU" sz="2400" baseline="0" dirty="0" smtClean="0">
                          <a:solidFill>
                            <a:srgbClr val="44546A"/>
                          </a:solidFill>
                        </a:rPr>
                        <a:t> качество фото и видео </a:t>
                      </a:r>
                      <a:endParaRPr lang="ru-RU" sz="2400" dirty="0">
                        <a:solidFill>
                          <a:srgbClr val="44546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rgbClr val="44546A"/>
                          </a:solidFill>
                        </a:rPr>
                        <a:t>Автоматическое масштабирование</a:t>
                      </a:r>
                      <a:endParaRPr lang="ru-RU" sz="2400" dirty="0">
                        <a:solidFill>
                          <a:srgbClr val="44546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614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84040" y="3868685"/>
            <a:ext cx="3255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solidFill>
                  <a:srgbClr val="44546A"/>
                </a:solidFill>
                <a:latin typeface="+mj-lt"/>
              </a:rPr>
              <a:t>Чего мы добились?</a:t>
            </a:r>
            <a:endParaRPr lang="ru-RU" sz="2400" dirty="0">
              <a:solidFill>
                <a:srgbClr val="44546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040" y="4396795"/>
            <a:ext cx="84158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>
                <a:solidFill>
                  <a:srgbClr val="5994EE"/>
                </a:solidFill>
              </a:rPr>
              <a:t>Обработка всего датасета занимает не более 5 минут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>
                <a:solidFill>
                  <a:srgbClr val="5994EE"/>
                </a:solidFill>
              </a:rPr>
              <a:t>Увеличение точности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>
                <a:solidFill>
                  <a:srgbClr val="5994EE"/>
                </a:solidFill>
              </a:rPr>
              <a:t>Сокращение ложных срабатываний</a:t>
            </a:r>
            <a:endParaRPr lang="ru-RU" sz="2400" dirty="0">
              <a:solidFill>
                <a:srgbClr val="5994E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46411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5</a:t>
            </a:fld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97186" y="333767"/>
            <a:ext cx="8908926" cy="690677"/>
          </a:xfrm>
        </p:spPr>
        <p:txBody>
          <a:bodyPr/>
          <a:lstStyle/>
          <a:p>
            <a:r>
              <a:rPr lang="ru-RU" dirty="0" smtClean="0"/>
              <a:t>Классификация по 152-ФЗ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00902"/>
              </p:ext>
            </p:extLst>
          </p:nvPr>
        </p:nvGraphicFramePr>
        <p:xfrm>
          <a:off x="1219200" y="1256146"/>
          <a:ext cx="9430329" cy="4147129"/>
        </p:xfrm>
        <a:graphic>
          <a:graphicData uri="http://schemas.openxmlformats.org/drawingml/2006/table">
            <a:tbl>
              <a:tblPr/>
              <a:tblGrid>
                <a:gridCol w="1967345">
                  <a:extLst>
                    <a:ext uri="{9D8B030D-6E8A-4147-A177-3AD203B41FA5}">
                      <a16:colId xmlns:a16="http://schemas.microsoft.com/office/drawing/2014/main" val="4278567801"/>
                    </a:ext>
                  </a:extLst>
                </a:gridCol>
                <a:gridCol w="4319541">
                  <a:extLst>
                    <a:ext uri="{9D8B030D-6E8A-4147-A177-3AD203B41FA5}">
                      <a16:colId xmlns:a16="http://schemas.microsoft.com/office/drawing/2014/main" val="2805268486"/>
                    </a:ext>
                  </a:extLst>
                </a:gridCol>
                <a:gridCol w="3143443">
                  <a:extLst>
                    <a:ext uri="{9D8B030D-6E8A-4147-A177-3AD203B41FA5}">
                      <a16:colId xmlns:a16="http://schemas.microsoft.com/office/drawing/2014/main" val="2395544433"/>
                    </a:ext>
                  </a:extLst>
                </a:gridCol>
              </a:tblGrid>
              <a:tr h="888025"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solidFill>
                            <a:srgbClr val="2C3694"/>
                          </a:solidFill>
                          <a:effectLst/>
                          <a:latin typeface="+mj-lt"/>
                        </a:rPr>
                        <a:t>Уровень (УЗ)</a:t>
                      </a:r>
                    </a:p>
                  </a:txBody>
                  <a:tcPr marL="6752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 smtClean="0">
                          <a:solidFill>
                            <a:srgbClr val="2C3694"/>
                          </a:solidFill>
                          <a:effectLst/>
                          <a:latin typeface="+mj-lt"/>
                        </a:rPr>
                        <a:t>Критерии</a:t>
                      </a:r>
                      <a:endParaRPr lang="ru-RU" sz="1600" b="0" dirty="0">
                        <a:solidFill>
                          <a:srgbClr val="2C3694"/>
                        </a:solidFill>
                        <a:effectLst/>
                        <a:latin typeface="+mj-lt"/>
                      </a:endParaRPr>
                    </a:p>
                  </a:txBody>
                  <a:tcPr marL="9003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solidFill>
                            <a:srgbClr val="2C3694"/>
                          </a:solidFill>
                          <a:effectLst/>
                          <a:latin typeface="+mj-lt"/>
                        </a:rPr>
                        <a:t>Статус</a:t>
                      </a:r>
                    </a:p>
                  </a:txBody>
                  <a:tcPr marL="9003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40527"/>
                  </a:ext>
                </a:extLst>
              </a:tr>
              <a:tr h="903143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УЗ-1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6752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Биометрия, </a:t>
                      </a:r>
                      <a:r>
                        <a:rPr lang="ru-RU" sz="1600" b="0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спецкатегории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9003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    Критично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90039" marR="6752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93797"/>
                  </a:ext>
                </a:extLst>
              </a:tr>
              <a:tr h="903143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УЗ-2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6752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Платежные данные </a:t>
                      </a:r>
                      <a:r>
                        <a:rPr lang="ru-RU" sz="1600" b="0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ru-RU" sz="1600" b="0" baseline="0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ru-RU" sz="1600" b="0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много </a:t>
                      </a:r>
                      <a:r>
                        <a:rPr lang="ru-RU" sz="1600" b="0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гос. идентификаторов</a:t>
                      </a:r>
                    </a:p>
                  </a:txBody>
                  <a:tcPr marL="9003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    Высокий </a:t>
                      </a:r>
                      <a:r>
                        <a:rPr lang="ru-RU" sz="1600" b="1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риск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90039" marR="6752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431709"/>
                  </a:ext>
                </a:extLst>
              </a:tr>
              <a:tr h="726409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УЗ-3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6752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Гос. </a:t>
                      </a:r>
                      <a:r>
                        <a:rPr lang="en-US" sz="1600" b="0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ID </a:t>
                      </a:r>
                      <a:r>
                        <a:rPr lang="ru-RU" sz="1600" b="0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в малом объеме или много ФИО/Адресов</a:t>
                      </a:r>
                    </a:p>
                  </a:txBody>
                  <a:tcPr marL="9003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    Средний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90039" marR="6752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60718"/>
                  </a:ext>
                </a:extLst>
              </a:tr>
              <a:tr h="726409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УЗ-4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6752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Только базовые ПДн (ФИО, телефон)</a:t>
                      </a:r>
                    </a:p>
                  </a:txBody>
                  <a:tcPr marL="90039" marR="9003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>
                          <a:solidFill>
                            <a:srgbClr val="5994EE"/>
                          </a:solidFill>
                          <a:effectLst/>
                          <a:latin typeface="+mj-lt"/>
                        </a:rPr>
                        <a:t>    Базовый</a:t>
                      </a:r>
                      <a:endParaRPr lang="ru-RU" sz="1600" b="0" dirty="0">
                        <a:solidFill>
                          <a:srgbClr val="5994EE"/>
                        </a:solidFill>
                        <a:effectLst/>
                        <a:latin typeface="+mj-lt"/>
                      </a:endParaRPr>
                    </a:p>
                  </a:txBody>
                  <a:tcPr marL="90039" marR="67529" marT="56274" marB="562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201799"/>
                  </a:ext>
                </a:extLst>
              </a:tr>
            </a:tbl>
          </a:graphicData>
        </a:graphic>
      </p:graphicFrame>
      <p:sp>
        <p:nvSpPr>
          <p:cNvPr id="8" name="Овал 7"/>
          <p:cNvSpPr/>
          <p:nvPr/>
        </p:nvSpPr>
        <p:spPr>
          <a:xfrm>
            <a:off x="7564580" y="2526494"/>
            <a:ext cx="175491" cy="1818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7587669" y="3401765"/>
            <a:ext cx="175491" cy="18181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Овал 9"/>
          <p:cNvSpPr/>
          <p:nvPr/>
        </p:nvSpPr>
        <p:spPr>
          <a:xfrm>
            <a:off x="7564580" y="4214380"/>
            <a:ext cx="175491" cy="18181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Овал 10"/>
          <p:cNvSpPr/>
          <p:nvPr/>
        </p:nvSpPr>
        <p:spPr>
          <a:xfrm>
            <a:off x="7564580" y="4936087"/>
            <a:ext cx="175491" cy="1818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734941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6</a:t>
            </a:fld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3631" y="289587"/>
            <a:ext cx="10409892" cy="690677"/>
          </a:xfrm>
        </p:spPr>
        <p:txBody>
          <a:bodyPr/>
          <a:lstStyle/>
          <a:p>
            <a:r>
              <a:rPr lang="ru-RU" b="1" dirty="0" smtClean="0"/>
              <a:t>Итоговый вывод: Понятный и безопасный результат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681" y="5248060"/>
            <a:ext cx="2105319" cy="146705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02" y="980264"/>
            <a:ext cx="5896798" cy="4267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3631" y="1441937"/>
            <a:ext cx="589064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44546A"/>
                </a:solidFill>
              </a:rPr>
              <a:t>В отчет </a:t>
            </a:r>
            <a:r>
              <a:rPr lang="ru-RU" sz="2400" b="1" dirty="0">
                <a:solidFill>
                  <a:srgbClr val="44546A"/>
                </a:solidFill>
              </a:rPr>
              <a:t>не сохраняются</a:t>
            </a:r>
            <a:r>
              <a:rPr lang="ru-RU" sz="2400" dirty="0">
                <a:solidFill>
                  <a:srgbClr val="44546A"/>
                </a:solidFill>
              </a:rPr>
              <a:t> сами персональные </a:t>
            </a:r>
            <a:r>
              <a:rPr lang="ru-RU" sz="2400" dirty="0" smtClean="0">
                <a:solidFill>
                  <a:srgbClr val="44546A"/>
                </a:solidFill>
              </a:rPr>
              <a:t>данные. </a:t>
            </a:r>
            <a:r>
              <a:rPr lang="ru-RU" sz="2400" dirty="0">
                <a:solidFill>
                  <a:srgbClr val="44546A"/>
                </a:solidFill>
              </a:rPr>
              <a:t>Выводится только </a:t>
            </a:r>
            <a:r>
              <a:rPr lang="ru-RU" sz="2400" b="1" dirty="0">
                <a:solidFill>
                  <a:srgbClr val="44546A"/>
                </a:solidFill>
              </a:rPr>
              <a:t>факт наличия</a:t>
            </a:r>
            <a:r>
              <a:rPr lang="ru-RU" sz="2400" dirty="0">
                <a:solidFill>
                  <a:srgbClr val="44546A"/>
                </a:solidFill>
              </a:rPr>
              <a:t> и количество вхождений. Это полностью </a:t>
            </a:r>
            <a:r>
              <a:rPr lang="ru-RU" sz="2400" dirty="0" smtClean="0">
                <a:solidFill>
                  <a:srgbClr val="44546A"/>
                </a:solidFill>
              </a:rPr>
              <a:t>соответствует условию о безопасности пдн</a:t>
            </a:r>
            <a:r>
              <a:rPr lang="ru-RU" sz="2000" dirty="0" smtClean="0">
                <a:solidFill>
                  <a:srgbClr val="44546A"/>
                </a:solidFill>
              </a:rPr>
              <a:t>.</a:t>
            </a:r>
          </a:p>
          <a:p>
            <a:endParaRPr lang="ru-RU" sz="2000" dirty="0">
              <a:solidFill>
                <a:srgbClr val="44546A"/>
              </a:solidFill>
            </a:endParaRPr>
          </a:p>
          <a:p>
            <a:r>
              <a:rPr lang="en-US" sz="2000" dirty="0" smtClean="0">
                <a:solidFill>
                  <a:srgbClr val="44546A"/>
                </a:solidFill>
              </a:rPr>
              <a:t>Github:</a:t>
            </a:r>
          </a:p>
          <a:p>
            <a:r>
              <a:rPr lang="en-US" sz="2000" dirty="0">
                <a:solidFill>
                  <a:srgbClr val="44546A"/>
                </a:solidFill>
              </a:rPr>
              <a:t>https://github.com/AelinZV/-2026</a:t>
            </a:r>
            <a:endParaRPr lang="ru-RU" sz="2000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04426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7</a:t>
            </a:fld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905163" y="2530763"/>
            <a:ext cx="10146621" cy="1671782"/>
          </a:xfrm>
        </p:spPr>
        <p:txBody>
          <a:bodyPr/>
          <a:lstStyle/>
          <a:p>
            <a:r>
              <a:rPr lang="ru-RU" sz="6600" dirty="0" smtClean="0"/>
              <a:t>Спасибо за внимание!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410009883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msung IT School White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SS Head">
      <a:majorFont>
        <a:latin typeface="Samsung SS Head Bold"/>
        <a:ea typeface=""/>
        <a:cs typeface=""/>
      </a:majorFont>
      <a:minorFont>
        <a:latin typeface="Samsung SS Body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1921</TotalTime>
  <Words>211</Words>
  <Application>Microsoft Office PowerPoint</Application>
  <PresentationFormat>Широкоэкранный</PresentationFormat>
  <Paragraphs>71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Wingdings</vt:lpstr>
      <vt:lpstr>Samsung SS Head Bold</vt:lpstr>
      <vt:lpstr>Samsung Sharp Sans</vt:lpstr>
      <vt:lpstr>Samsung SS Body Light</vt:lpstr>
      <vt:lpstr>Arial</vt:lpstr>
      <vt:lpstr>Calibri</vt:lpstr>
      <vt:lpstr>Samsung IT School White</vt:lpstr>
      <vt:lpstr>Решение Arenadata</vt:lpstr>
      <vt:lpstr>Цель проекта</vt:lpstr>
      <vt:lpstr>Архитектура решения </vt:lpstr>
      <vt:lpstr>Обработка сложных кейсов : устойчивость к реальному хаосу</vt:lpstr>
      <vt:lpstr>Классификация по 152-ФЗ</vt:lpstr>
      <vt:lpstr>Итоговый вывод: Понятный и безопасный результат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Presentation</dc:title>
  <dc:creator>kirillgorbac</dc:creator>
  <cp:lastModifiedBy>User</cp:lastModifiedBy>
  <cp:revision>215</cp:revision>
  <dcterms:created xsi:type="dcterms:W3CDTF">2020-05-25T08:37:09Z</dcterms:created>
  <dcterms:modified xsi:type="dcterms:W3CDTF">2026-04-19T09:09:22Z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